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2" r:id="rId1"/>
  </p:sldMasterIdLst>
  <p:notesMasterIdLst>
    <p:notesMasterId r:id="rId21"/>
  </p:notesMasterIdLst>
  <p:sldIdLst>
    <p:sldId id="256" r:id="rId2"/>
    <p:sldId id="284" r:id="rId3"/>
    <p:sldId id="30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8" r:id="rId13"/>
    <p:sldId id="305" r:id="rId14"/>
    <p:sldId id="306" r:id="rId15"/>
    <p:sldId id="307" r:id="rId16"/>
    <p:sldId id="309" r:id="rId17"/>
    <p:sldId id="310" r:id="rId18"/>
    <p:sldId id="311" r:id="rId19"/>
    <p:sldId id="29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7990" autoAdjust="0"/>
  </p:normalViewPr>
  <p:slideViewPr>
    <p:cSldViewPr snapToGrid="0">
      <p:cViewPr varScale="1">
        <p:scale>
          <a:sx n="60" d="100"/>
          <a:sy n="60" d="100"/>
        </p:scale>
        <p:origin x="72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96113-225B-4AED-8D2D-E2FD60DD6B1B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635BC-CC39-4540-B83C-CDDDF8ABA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06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29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37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457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24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4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284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91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46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42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70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90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489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6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891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9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863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45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71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2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94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90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65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8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16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5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4C13F30E-5208-46AD-B1E4-ED6FE117077D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2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71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8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09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7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5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4C13F30E-5208-46AD-B1E4-ED6FE117077D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941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  <p:sldLayoutId id="2147484066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E2368-BC60-F755-53A4-36243B43D2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36984-4D23-4BF7-BC68-17CDC7E91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2765" y="5280847"/>
            <a:ext cx="10399235" cy="434974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WEEK 15</a:t>
            </a:r>
            <a:r>
              <a:rPr lang="en-US" dirty="0"/>
              <a:t>																		Abeeha Sattar</a:t>
            </a:r>
          </a:p>
        </p:txBody>
      </p:sp>
    </p:spTree>
    <p:extLst>
      <p:ext uri="{BB962C8B-B14F-4D97-AF65-F5344CB8AC3E}">
        <p14:creationId xmlns:p14="http://schemas.microsoft.com/office/powerpoint/2010/main" val="4055406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E287BC-E705-3501-166B-EE4DEE6788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Vectors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0ED49C1-3719-F1A3-53AC-A0A43C30A1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54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36E93-FA4C-F92D-269B-3585BE41F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Vectors?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77974-D7BE-E7AE-BD00-E5733747E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It is a class, present in the “vector” library.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The Vector class provides a “dynamic array” – an array that can grow as needed!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More memory is allocated when needed by the vector.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You can use the normal array syntax to access its elements.</a:t>
            </a:r>
          </a:p>
        </p:txBody>
      </p:sp>
    </p:spTree>
    <p:extLst>
      <p:ext uri="{BB962C8B-B14F-4D97-AF65-F5344CB8AC3E}">
        <p14:creationId xmlns:p14="http://schemas.microsoft.com/office/powerpoint/2010/main" val="3537397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use Vectors?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365800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The </a:t>
            </a:r>
            <a:r>
              <a:rPr lang="en-US" b="1" u="sng" dirty="0">
                <a:solidFill>
                  <a:schemeClr val="bg2"/>
                </a:solidFill>
              </a:rPr>
              <a:t>size of a vector does not have to be a fixed constant</a:t>
            </a:r>
            <a:r>
              <a:rPr lang="en-US" dirty="0">
                <a:solidFill>
                  <a:schemeClr val="bg2"/>
                </a:solidFill>
              </a:rPr>
              <a:t>, and it can also grow or shrink during execution. If you want to read data from a file and store it in an vector, you can just keep adding new elements as you receive them, without having to know what the largest amount would be.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A </a:t>
            </a:r>
            <a:r>
              <a:rPr lang="en-US" b="1" u="sng" dirty="0">
                <a:solidFill>
                  <a:schemeClr val="bg2"/>
                </a:solidFill>
              </a:rPr>
              <a:t>vector always knows its own size</a:t>
            </a:r>
            <a:r>
              <a:rPr lang="en-US" dirty="0">
                <a:solidFill>
                  <a:schemeClr val="bg2"/>
                </a:solidFill>
              </a:rPr>
              <a:t>, so passing one to a function does not require you to separately pass this information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Elements can be accessed by position in a vector just as they are in an array, but </a:t>
            </a:r>
            <a:r>
              <a:rPr lang="en-US" b="1" u="sng" dirty="0">
                <a:solidFill>
                  <a:schemeClr val="bg2"/>
                </a:solidFill>
              </a:rPr>
              <a:t>you can also insert and remove elements anywhere in a vector</a:t>
            </a:r>
            <a:r>
              <a:rPr lang="en-US" dirty="0">
                <a:solidFill>
                  <a:schemeClr val="bg2"/>
                </a:solidFill>
              </a:rPr>
              <a:t>.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Vectors can be </a:t>
            </a:r>
            <a:r>
              <a:rPr lang="en-US" b="1" u="sng" dirty="0">
                <a:solidFill>
                  <a:schemeClr val="bg2"/>
                </a:solidFill>
              </a:rPr>
              <a:t>easily returned</a:t>
            </a:r>
            <a:r>
              <a:rPr lang="en-US" dirty="0">
                <a:solidFill>
                  <a:schemeClr val="bg2"/>
                </a:solidFill>
              </a:rPr>
              <a:t> from a function.</a:t>
            </a:r>
          </a:p>
        </p:txBody>
      </p:sp>
    </p:spTree>
    <p:extLst>
      <p:ext uri="{BB962C8B-B14F-4D97-AF65-F5344CB8AC3E}">
        <p14:creationId xmlns:p14="http://schemas.microsoft.com/office/powerpoint/2010/main" val="607434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 + Namespace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Library: vector</a:t>
            </a:r>
          </a:p>
          <a:p>
            <a:pPr lvl="1"/>
            <a:r>
              <a:rPr lang="en-US" sz="1800" b="1" dirty="0">
                <a:solidFill>
                  <a:schemeClr val="bg2"/>
                </a:solidFill>
                <a:latin typeface="Consolas" panose="020B0609020204030204" pitchFamily="49" charset="0"/>
              </a:rPr>
              <a:t>#include &lt;vector&gt;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Namespace: std</a:t>
            </a:r>
          </a:p>
          <a:p>
            <a:pPr lvl="1"/>
            <a:r>
              <a:rPr lang="en-US" sz="1800" b="1" dirty="0">
                <a:solidFill>
                  <a:schemeClr val="bg2"/>
                </a:solidFill>
                <a:latin typeface="Consolas" panose="020B0609020204030204" pitchFamily="49" charset="0"/>
              </a:rPr>
              <a:t>using namespace std;</a:t>
            </a:r>
          </a:p>
        </p:txBody>
      </p:sp>
    </p:spTree>
    <p:extLst>
      <p:ext uri="{BB962C8B-B14F-4D97-AF65-F5344CB8AC3E}">
        <p14:creationId xmlns:p14="http://schemas.microsoft.com/office/powerpoint/2010/main" val="1715031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Vectors: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size = 10;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numbers[size];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//array declaration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v_numbers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[size];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//vector declaration</a:t>
            </a:r>
          </a:p>
          <a:p>
            <a:pPr marL="0" indent="0">
              <a:buNone/>
            </a:pP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2"/>
                </a:solidFill>
              </a:rPr>
              <a:t>Unlike an array, the elements of a vector are initialized with appropriate default values. This means 0 for integers, 0.0 for doubles, and “” for strings.</a:t>
            </a: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79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Vectors: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 v_dec_1(size);</a:t>
            </a:r>
          </a:p>
          <a:p>
            <a:endParaRPr lang="en-US" sz="1800" dirty="0">
              <a:solidFill>
                <a:srgbClr val="2B91AF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 v_dec_2(size, 2);</a:t>
            </a:r>
          </a:p>
          <a:p>
            <a:endParaRPr lang="en-US" sz="1800" dirty="0">
              <a:solidFill>
                <a:srgbClr val="2B91AF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 v_dec_3(size, 9.99);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 v_dec_4;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005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Vectors: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r>
              <a:rPr lang="en-US" dirty="0">
                <a:solidFill>
                  <a:schemeClr val="bg2"/>
                </a:solidFill>
              </a:rPr>
              <a:t>Commonly used member functions:</a:t>
            </a:r>
            <a:endParaRPr lang="en-US" sz="1800" dirty="0">
              <a:solidFill>
                <a:schemeClr val="bg2"/>
              </a:solidFill>
            </a:endParaRPr>
          </a:p>
          <a:p>
            <a:pPr lvl="1"/>
            <a:endParaRPr lang="en-US" sz="1800" dirty="0">
              <a:solidFill>
                <a:schemeClr val="bg2"/>
              </a:solidFill>
            </a:endParaRP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size( )</a:t>
            </a: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begin( )</a:t>
            </a: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end( )</a:t>
            </a:r>
          </a:p>
          <a:p>
            <a:pPr lvl="1"/>
            <a:r>
              <a:rPr lang="en-US" sz="1800" dirty="0" err="1">
                <a:solidFill>
                  <a:schemeClr val="bg2"/>
                </a:solidFill>
              </a:rPr>
              <a:t>push_back</a:t>
            </a:r>
            <a:r>
              <a:rPr lang="en-US" sz="1800" dirty="0">
                <a:solidFill>
                  <a:schemeClr val="bg2"/>
                </a:solidFill>
              </a:rPr>
              <a:t>( )</a:t>
            </a: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insert( ) </a:t>
            </a:r>
          </a:p>
          <a:p>
            <a:pPr lvl="1"/>
            <a:endParaRPr lang="en-US" sz="1800" dirty="0">
              <a:solidFill>
                <a:schemeClr val="bg2"/>
              </a:solidFill>
            </a:endParaRPr>
          </a:p>
          <a:p>
            <a:pPr lvl="1"/>
            <a:endParaRPr lang="en-US" sz="1800" dirty="0">
              <a:solidFill>
                <a:schemeClr val="bg2"/>
              </a:solidFill>
            </a:endParaRPr>
          </a:p>
          <a:p>
            <a:pPr lvl="1"/>
            <a:endParaRPr lang="en-US" sz="1800" dirty="0">
              <a:solidFill>
                <a:schemeClr val="bg2"/>
              </a:solidFill>
            </a:endParaRPr>
          </a:p>
          <a:p>
            <a:pPr lvl="1"/>
            <a:endParaRPr lang="en-US" sz="1800" dirty="0">
              <a:solidFill>
                <a:schemeClr val="bg2"/>
              </a:solidFill>
            </a:endParaRP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erase()</a:t>
            </a: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empty()</a:t>
            </a: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resize()</a:t>
            </a: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clear() </a:t>
            </a:r>
          </a:p>
          <a:p>
            <a:pPr lvl="1"/>
            <a:r>
              <a:rPr lang="en-US" sz="1800" dirty="0" err="1">
                <a:solidFill>
                  <a:schemeClr val="bg2"/>
                </a:solidFill>
              </a:rPr>
              <a:t>pop_back</a:t>
            </a:r>
            <a:r>
              <a:rPr lang="en-US" sz="1800" dirty="0">
                <a:solidFill>
                  <a:schemeClr val="bg2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135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read a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 v_dec_2(size, 2);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v_dec_2.size(); i++) 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(v_dec_2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953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resize(), clear() and empty()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"Empty: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v_dec_4.empty()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v_dec_4.resize(4);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"Empty: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v_dec_4.empty()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v_dec_4.clear();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"Empty: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v_dec_4.empty()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08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Items to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	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_dec_4.push_back(1);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"Size: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v_dec_4.size()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v_dec_4.push_back(2);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"Size: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v_dec_4.size()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v_dec_4.push_back(3);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"Size: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v_dec_4.size()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260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at Different Positions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v_dec_4.insert(v_dec_4.begin(), 20);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v_dec_4.insert(v_dec_4.begin()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2, 10);</a:t>
            </a:r>
          </a:p>
          <a:p>
            <a:pPr marL="0" indent="0">
              <a:buNone/>
            </a:pPr>
            <a:r>
              <a:rPr lang="da-DK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da-DK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da-DK" sz="1800" dirty="0">
                <a:solidFill>
                  <a:srgbClr val="000000"/>
                </a:solidFill>
                <a:latin typeface="Consolas" panose="020B0609020204030204" pitchFamily="49" charset="0"/>
              </a:rPr>
              <a:t>v_dec_4.insert(v_dec_4.end(), 15);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170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 and Iterators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859168" cy="3636511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A container is a class or a data structure whose instances are collections of other datatypes or objects.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Vectors (and other containers) provide the concept of an iterator, which is another form of representing the position of an element in the sequence.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Elements in a vector of size </a:t>
            </a:r>
            <a:r>
              <a:rPr lang="en-US" b="1" dirty="0">
                <a:solidFill>
                  <a:schemeClr val="bg2"/>
                </a:solidFill>
              </a:rPr>
              <a:t>N</a:t>
            </a:r>
            <a:r>
              <a:rPr lang="en-US" dirty="0">
                <a:solidFill>
                  <a:schemeClr val="bg2"/>
                </a:solidFill>
              </a:rPr>
              <a:t> are identified by their index, an integer between </a:t>
            </a:r>
            <a:r>
              <a:rPr lang="en-US" b="1" dirty="0">
                <a:solidFill>
                  <a:schemeClr val="bg2"/>
                </a:solidFill>
              </a:rPr>
              <a:t>0</a:t>
            </a:r>
            <a:r>
              <a:rPr lang="en-US" dirty="0">
                <a:solidFill>
                  <a:schemeClr val="bg2"/>
                </a:solidFill>
              </a:rPr>
              <a:t> and </a:t>
            </a:r>
            <a:r>
              <a:rPr lang="en-US" b="1" dirty="0">
                <a:solidFill>
                  <a:schemeClr val="bg2"/>
                </a:solidFill>
              </a:rPr>
              <a:t>N – 1</a:t>
            </a:r>
            <a:r>
              <a:rPr lang="en-US" dirty="0">
                <a:solidFill>
                  <a:schemeClr val="bg2"/>
                </a:solidFill>
              </a:rPr>
              <a:t>. Iterators implement a similar concept!!</a:t>
            </a:r>
          </a:p>
        </p:txBody>
      </p:sp>
    </p:spTree>
    <p:extLst>
      <p:ext uri="{BB962C8B-B14F-4D97-AF65-F5344CB8AC3E}">
        <p14:creationId xmlns:p14="http://schemas.microsoft.com/office/powerpoint/2010/main" val="4199121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Obtaining an Iterator for a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vector&lt;type&gt; :: iterator 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We’ll use that to declare an iterator of a specific datatype.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It should be the same datatype as the vector for which you want the iterator.</a:t>
            </a:r>
          </a:p>
          <a:p>
            <a:r>
              <a:rPr lang="en-US" dirty="0" err="1">
                <a:solidFill>
                  <a:schemeClr val="bg2"/>
                </a:solidFill>
              </a:rPr>
              <a:t>V.begin</a:t>
            </a:r>
            <a:r>
              <a:rPr lang="en-US" dirty="0">
                <a:solidFill>
                  <a:schemeClr val="bg2"/>
                </a:solidFill>
              </a:rPr>
              <a:t>()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Returns an iterator that represents the first element in the vector ( aka. </a:t>
            </a:r>
            <a:r>
              <a:rPr lang="en-US" b="1" dirty="0">
                <a:solidFill>
                  <a:schemeClr val="bg2"/>
                </a:solidFill>
              </a:rPr>
              <a:t>V[0]</a:t>
            </a:r>
            <a:r>
              <a:rPr lang="en-US" dirty="0">
                <a:solidFill>
                  <a:schemeClr val="bg2"/>
                </a:solidFill>
              </a:rPr>
              <a:t> )</a:t>
            </a:r>
          </a:p>
          <a:p>
            <a:r>
              <a:rPr lang="en-US" dirty="0" err="1">
                <a:solidFill>
                  <a:schemeClr val="bg2"/>
                </a:solidFill>
              </a:rPr>
              <a:t>V.end</a:t>
            </a:r>
            <a:r>
              <a:rPr lang="en-US" dirty="0">
                <a:solidFill>
                  <a:schemeClr val="bg2"/>
                </a:solidFill>
              </a:rPr>
              <a:t>()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Returns an iterator that represents the last element in the vector ( aka. </a:t>
            </a:r>
            <a:r>
              <a:rPr lang="en-US" b="1" dirty="0">
                <a:solidFill>
                  <a:schemeClr val="bg2"/>
                </a:solidFill>
              </a:rPr>
              <a:t>V[N-1]</a:t>
            </a:r>
            <a:r>
              <a:rPr lang="en-US" dirty="0">
                <a:solidFill>
                  <a:schemeClr val="bg2"/>
                </a:solidFill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926855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Iterators – How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	vector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&gt;::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iterator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iter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iter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v_dec_4.begin();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iter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!=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v_dec_4.end();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iter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iter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980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Erasing Elements in a Vector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FE897-3809-2EB8-9360-A70C2EE02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erase(iterator </a:t>
            </a:r>
            <a:r>
              <a:rPr lang="en-US" dirty="0" err="1">
                <a:solidFill>
                  <a:schemeClr val="bg2"/>
                </a:solidFill>
              </a:rPr>
              <a:t>iter</a:t>
            </a:r>
            <a:r>
              <a:rPr lang="en-US" dirty="0">
                <a:solidFill>
                  <a:schemeClr val="bg2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Erases the element at the position denoted by the </a:t>
            </a:r>
            <a:r>
              <a:rPr lang="en-US" dirty="0" err="1">
                <a:solidFill>
                  <a:schemeClr val="bg2"/>
                </a:solidFill>
              </a:rPr>
              <a:t>iter</a:t>
            </a:r>
            <a:r>
              <a:rPr lang="en-US" dirty="0">
                <a:solidFill>
                  <a:schemeClr val="bg2"/>
                </a:solidFill>
              </a:rPr>
              <a:t>, shifting the elements after it back, to fill the space left by the deleted elements. The size of the vector will decrease by 1.</a:t>
            </a:r>
          </a:p>
          <a:p>
            <a:r>
              <a:rPr lang="en-US" dirty="0">
                <a:solidFill>
                  <a:schemeClr val="bg2"/>
                </a:solidFill>
              </a:rPr>
              <a:t>erase(iterator first, iterator last) 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Erases the elements starting at “</a:t>
            </a:r>
            <a:r>
              <a:rPr lang="en-US" b="1" dirty="0">
                <a:solidFill>
                  <a:schemeClr val="bg2"/>
                </a:solidFill>
              </a:rPr>
              <a:t>first</a:t>
            </a:r>
            <a:r>
              <a:rPr lang="en-US" dirty="0">
                <a:solidFill>
                  <a:schemeClr val="bg2"/>
                </a:solidFill>
              </a:rPr>
              <a:t>” and stopping just before “</a:t>
            </a:r>
            <a:r>
              <a:rPr lang="en-US" b="1" dirty="0">
                <a:solidFill>
                  <a:schemeClr val="bg2"/>
                </a:solidFill>
              </a:rPr>
              <a:t>last</a:t>
            </a:r>
            <a:r>
              <a:rPr lang="en-US" dirty="0">
                <a:solidFill>
                  <a:schemeClr val="bg2"/>
                </a:solidFill>
              </a:rPr>
              <a:t>”, shifting the elements after the range back to fill the space. The size of the vector will decrease by the distance between </a:t>
            </a:r>
            <a:r>
              <a:rPr lang="en-US" b="1" dirty="0">
                <a:solidFill>
                  <a:schemeClr val="bg2"/>
                </a:solidFill>
              </a:rPr>
              <a:t>first</a:t>
            </a:r>
            <a:r>
              <a:rPr lang="en-US" dirty="0">
                <a:solidFill>
                  <a:schemeClr val="bg2"/>
                </a:solidFill>
              </a:rPr>
              <a:t> and </a:t>
            </a:r>
            <a:r>
              <a:rPr lang="en-US" b="1" dirty="0">
                <a:solidFill>
                  <a:schemeClr val="bg2"/>
                </a:solidFill>
              </a:rPr>
              <a:t>last</a:t>
            </a:r>
            <a:r>
              <a:rPr lang="en-US" dirty="0">
                <a:solidFill>
                  <a:schemeClr val="bg2"/>
                </a:solidFill>
              </a:rPr>
              <a:t>.</a:t>
            </a:r>
          </a:p>
          <a:p>
            <a:r>
              <a:rPr lang="en-US" dirty="0" err="1">
                <a:solidFill>
                  <a:schemeClr val="bg2"/>
                </a:solidFill>
              </a:rPr>
              <a:t>pop_back</a:t>
            </a:r>
            <a:r>
              <a:rPr lang="en-US" dirty="0">
                <a:solidFill>
                  <a:schemeClr val="bg2"/>
                </a:solidFill>
              </a:rPr>
              <a:t>()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A shorthand method for erasing the last element in the vector. This is the opposite of </a:t>
            </a:r>
            <a:r>
              <a:rPr lang="en-US" dirty="0" err="1">
                <a:solidFill>
                  <a:schemeClr val="bg2"/>
                </a:solidFill>
              </a:rPr>
              <a:t>push_back</a:t>
            </a:r>
            <a:r>
              <a:rPr lang="en-US" dirty="0">
                <a:solidFill>
                  <a:schemeClr val="bg2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46981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Erasing Elements / Pop 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	vector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vec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6; i++)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vec.push_back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(i+1);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vec.erase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vec.begin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2);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vec.pop_back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vec.erase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vec.begin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vec.end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085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Vectors with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myClass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en-US" sz="1800" dirty="0">
              <a:solidFill>
                <a:srgbClr val="2B91A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myClass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myClassVector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6; i++)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myClassVector.push_back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myClass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(i+1));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myClassVector.size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myClassVector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213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5A48E6-BC00-0F18-CD49-9C102E550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CF8533A-88EC-9260-ED8E-7F39D0BC2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4776313">
            <a:off x="9253820" y="5109750"/>
            <a:ext cx="555645" cy="521137"/>
          </a:xfrm>
        </p:spPr>
        <p:txBody>
          <a:bodyPr/>
          <a:lstStyle/>
          <a:p>
            <a:r>
              <a:rPr lang="en-US" sz="2400" dirty="0">
                <a:solidFill>
                  <a:schemeClr val="bg2"/>
                </a:solidFill>
              </a:rPr>
              <a:t>: )</a:t>
            </a:r>
          </a:p>
        </p:txBody>
      </p:sp>
    </p:spTree>
    <p:extLst>
      <p:ext uri="{BB962C8B-B14F-4D97-AF65-F5344CB8AC3E}">
        <p14:creationId xmlns:p14="http://schemas.microsoft.com/office/powerpoint/2010/main" val="4220851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289</TotalTime>
  <Words>1228</Words>
  <Application>Microsoft Office PowerPoint</Application>
  <PresentationFormat>Widescreen</PresentationFormat>
  <Paragraphs>160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Century Gothic</vt:lpstr>
      <vt:lpstr>Consolas</vt:lpstr>
      <vt:lpstr>Wingdings 2</vt:lpstr>
      <vt:lpstr>Quotable</vt:lpstr>
      <vt:lpstr>Object-Oriented Programming</vt:lpstr>
      <vt:lpstr>Vectors</vt:lpstr>
      <vt:lpstr>What are Vectors?</vt:lpstr>
      <vt:lpstr>Why do we use Vectors?</vt:lpstr>
      <vt:lpstr>Library + Namespace</vt:lpstr>
      <vt:lpstr>Vectors: Declaration</vt:lpstr>
      <vt:lpstr>Vectors: Initialization</vt:lpstr>
      <vt:lpstr>Vectors: Functions</vt:lpstr>
      <vt:lpstr>How to read a Vector</vt:lpstr>
      <vt:lpstr>resize(), clear() and empty() methods</vt:lpstr>
      <vt:lpstr>Adding Items to Vectors</vt:lpstr>
      <vt:lpstr>Inserting at Different Positions</vt:lpstr>
      <vt:lpstr>Containers and Iterators</vt:lpstr>
      <vt:lpstr>Obtaining an Iterator for a Vector</vt:lpstr>
      <vt:lpstr>Iterators – How to Use</vt:lpstr>
      <vt:lpstr>Erasing Elements in a Vector</vt:lpstr>
      <vt:lpstr>Example: Erasing Elements / Pop Back</vt:lpstr>
      <vt:lpstr>Using Vectors with Classes</vt:lpstr>
      <vt:lpstr>Fin.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abeeha.sattar13@outlook.com</dc:creator>
  <cp:lastModifiedBy>abeeha.sattar13@outlook.com</cp:lastModifiedBy>
  <cp:revision>227</cp:revision>
  <dcterms:created xsi:type="dcterms:W3CDTF">2023-01-26T02:43:51Z</dcterms:created>
  <dcterms:modified xsi:type="dcterms:W3CDTF">2023-05-09T03:12:42Z</dcterms:modified>
</cp:coreProperties>
</file>